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6" r:id="rId6"/>
    <p:sldId id="261" r:id="rId7"/>
    <p:sldId id="265"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66" d="100"/>
          <a:sy n="66" d="100"/>
        </p:scale>
        <p:origin x="38" y="5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67FD-5EC1-BC41-D6E7-A245DE7429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8B0693-B86F-86D0-BD30-34FEDFC8E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8801D6-A01F-0AEA-014C-2ED2A1912C3D}"/>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0B2AE4C2-F013-A3D7-2362-5D46332B23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E6A99D-0EA1-B165-F750-30C1C68E43F1}"/>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3706661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41F1-74EF-2435-D68E-3AB43C3979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3413C1-15B9-33A5-F865-7E0F0C10A6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82CEBD-3EE8-6703-6075-56D20B4DF092}"/>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3D5B7829-7439-D164-9AF8-BF1E6B583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76580-C1AF-5E42-DAEB-C3BED56047BC}"/>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3803730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86EB-7B7D-9916-55C6-D9E9F71228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241FD7-14D5-A402-E162-1A19B3F59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5737CD-2C1E-CBBB-3C45-B905BC16B9E0}"/>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FA1FB7D6-FC4F-1285-BEF4-EADC418F88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48BD95-540A-F167-B80E-E9087A6861CC}"/>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427160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8BE64-4AD1-F619-EC38-824B5E2DA0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E64C88-1C51-D5BF-9628-B0F23CFC11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6F286F-6074-3E69-A7CA-1C3EA930A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CCAD36-CF02-C8CC-0237-D4E145E6A111}"/>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6" name="Footer Placeholder 5">
            <a:extLst>
              <a:ext uri="{FF2B5EF4-FFF2-40B4-BE49-F238E27FC236}">
                <a16:creationId xmlns:a16="http://schemas.microsoft.com/office/drawing/2014/main" id="{D936D3EC-0D77-16C7-9E96-1361AB3A4F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7A89F4-9AA8-C11F-4C97-D93DE1E0830C}"/>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107052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9791-BF8E-3325-C8C2-72D40FDB839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882DC1-1F78-74FE-7BAA-9124B0B13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112E0-357C-D040-CB19-8E1697AA86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E1D07FA-6AD7-2F19-8573-DF4389BD9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2408A-7C54-A597-73CF-E2F8E189D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E71C5D-5B57-AA9E-5561-12063C4AFCC3}"/>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8" name="Footer Placeholder 7">
            <a:extLst>
              <a:ext uri="{FF2B5EF4-FFF2-40B4-BE49-F238E27FC236}">
                <a16:creationId xmlns:a16="http://schemas.microsoft.com/office/drawing/2014/main" id="{D8156942-C9D5-2B48-352F-2DE4DD2525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3FEA5A-25FE-92E9-611D-B87C3FD8E7B1}"/>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2518565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D51C-F535-82EE-48CB-7145279A77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261B0A-9966-19DF-6E02-9738D30F2A1B}"/>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4" name="Footer Placeholder 3">
            <a:extLst>
              <a:ext uri="{FF2B5EF4-FFF2-40B4-BE49-F238E27FC236}">
                <a16:creationId xmlns:a16="http://schemas.microsoft.com/office/drawing/2014/main" id="{E8C24355-00B6-CB0D-81A0-6135BEFC28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E3C49C-AB4A-67F3-02EC-AEAF18222F34}"/>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2940650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8CBC0F-C647-4798-F152-3CE63B8FD45F}"/>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3" name="Footer Placeholder 2">
            <a:extLst>
              <a:ext uri="{FF2B5EF4-FFF2-40B4-BE49-F238E27FC236}">
                <a16:creationId xmlns:a16="http://schemas.microsoft.com/office/drawing/2014/main" id="{B8DC223C-DA4D-8B27-F69F-FAE9FA1F27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F91A91-66B0-D4B0-C580-8C1DBBB8B4C5}"/>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3113023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B8AD-0A3A-39B7-12C3-FDFCA6799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E4E18A-F2DB-1EAF-41C6-CEE788E31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0768CE-E917-F1D7-D2A1-170937DA1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8246B-A259-B17F-8FA3-90D672A9C6EA}"/>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6" name="Footer Placeholder 5">
            <a:extLst>
              <a:ext uri="{FF2B5EF4-FFF2-40B4-BE49-F238E27FC236}">
                <a16:creationId xmlns:a16="http://schemas.microsoft.com/office/drawing/2014/main" id="{90F398BD-EDEF-7DA1-FFE0-E295E03887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FC0249-3F50-0043-4429-FD22D933EBE5}"/>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5475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2166-947A-4EDF-93DF-44CB78F477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1953C9-24F7-0979-E78B-25A32192F6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4D44C6-3C6C-CEFC-AECC-7303E00EA8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37652-845A-D740-D9A3-C31156D6F92F}"/>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6" name="Footer Placeholder 5">
            <a:extLst>
              <a:ext uri="{FF2B5EF4-FFF2-40B4-BE49-F238E27FC236}">
                <a16:creationId xmlns:a16="http://schemas.microsoft.com/office/drawing/2014/main" id="{F3BB0AE7-4F17-0F8E-ABA2-A1B4553FD4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118DC1-64F9-10B8-878D-067A1EEFD818}"/>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610625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60D84-1A0A-5277-F971-E4A09FD7EB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2EDEE9-D60F-28B2-E7EA-CB4AD8E3B5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80F5EF-AC4F-152D-4405-161B943C9838}"/>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D866F801-A8C5-8CCE-F5AE-D79EEB18D0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2339FD-CD72-D1EC-104A-98910C447F53}"/>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333758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4C41D7-4C9A-281F-91EA-045BC309E9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A1BE5A-0757-4707-FFE1-21C1FB5F5A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A822D-22DA-332F-4AAF-34136F6C0E47}"/>
              </a:ext>
            </a:extLst>
          </p:cNvPr>
          <p:cNvSpPr>
            <a:spLocks noGrp="1"/>
          </p:cNvSpPr>
          <p:nvPr>
            <p:ph type="dt" sz="half" idx="10"/>
          </p:nvPr>
        </p:nvSpPr>
        <p:spPr/>
        <p:txBody>
          <a:body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A44441C3-E9EC-0654-16A7-5CAB5ACCC3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80BDC8-C733-99AA-32E0-98AC1C09CF63}"/>
              </a:ext>
            </a:extLst>
          </p:cNvPr>
          <p:cNvSpPr>
            <a:spLocks noGrp="1"/>
          </p:cNvSpPr>
          <p:nvPr>
            <p:ph type="sldNum" sz="quarter" idx="12"/>
          </p:nvPr>
        </p:nvSpPr>
        <p:spPr/>
        <p:txBody>
          <a:bodyPr/>
          <a:lstStyle/>
          <a:p>
            <a:fld id="{18C46E68-FC5D-4889-B174-BBDF90E06C5E}" type="slidenum">
              <a:rPr lang="en-IN" smtClean="0"/>
              <a:t>‹#›</a:t>
            </a:fld>
            <a:endParaRPr lang="en-IN"/>
          </a:p>
        </p:txBody>
      </p:sp>
    </p:spTree>
    <p:extLst>
      <p:ext uri="{BB962C8B-B14F-4D97-AF65-F5344CB8AC3E}">
        <p14:creationId xmlns:p14="http://schemas.microsoft.com/office/powerpoint/2010/main" val="1423596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7BCDB-F68C-ED21-BD32-1E1F606871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B4F8DC-B194-6869-660E-745C33EEEA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8533EB-51F8-6BC8-45A8-931B812F18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BE2E05-2647-4797-87CD-6009D8FC5FBC}" type="datetimeFigureOut">
              <a:rPr lang="en-IN" smtClean="0"/>
              <a:t>22-06-2026</a:t>
            </a:fld>
            <a:endParaRPr lang="en-IN"/>
          </a:p>
        </p:txBody>
      </p:sp>
      <p:sp>
        <p:nvSpPr>
          <p:cNvPr id="5" name="Footer Placeholder 4">
            <a:extLst>
              <a:ext uri="{FF2B5EF4-FFF2-40B4-BE49-F238E27FC236}">
                <a16:creationId xmlns:a16="http://schemas.microsoft.com/office/drawing/2014/main" id="{CF5328B0-F200-1C8F-6B7D-F212103EC4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C9205A7-8786-336E-A109-A555C7049E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C46E68-FC5D-4889-B174-BBDF90E06C5E}" type="slidenum">
              <a:rPr lang="en-IN" smtClean="0"/>
              <a:t>‹#›</a:t>
            </a:fld>
            <a:endParaRPr lang="en-IN"/>
          </a:p>
        </p:txBody>
      </p:sp>
    </p:spTree>
    <p:extLst>
      <p:ext uri="{BB962C8B-B14F-4D97-AF65-F5344CB8AC3E}">
        <p14:creationId xmlns:p14="http://schemas.microsoft.com/office/powerpoint/2010/main" val="409897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C42F-F78A-06DA-2A6D-619388203BB3}"/>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Personal AI Knowledge Assistant using Retrieval-Augmented Generation (RAG)</a:t>
            </a:r>
          </a:p>
        </p:txBody>
      </p:sp>
      <p:sp>
        <p:nvSpPr>
          <p:cNvPr id="3" name="Subtitle 2">
            <a:extLst>
              <a:ext uri="{FF2B5EF4-FFF2-40B4-BE49-F238E27FC236}">
                <a16:creationId xmlns:a16="http://schemas.microsoft.com/office/drawing/2014/main" id="{D7CE9F10-343A-35F3-8D33-1712AAEA9129}"/>
              </a:ext>
            </a:extLst>
          </p:cNvPr>
          <p:cNvSpPr>
            <a:spLocks noGrp="1"/>
          </p:cNvSpPr>
          <p:nvPr>
            <p:ph type="subTitle" idx="1"/>
          </p:nvPr>
        </p:nvSpPr>
        <p:spPr/>
        <p:txBody>
          <a:bodyPr>
            <a:normAutofit/>
          </a:bodyPr>
          <a:lstStyle/>
          <a:p>
            <a:r>
              <a:rPr lang="en-IN" dirty="0">
                <a:latin typeface="Times New Roman" panose="02020603050405020304" pitchFamily="18" charset="0"/>
                <a:cs typeface="Times New Roman" panose="02020603050405020304" pitchFamily="18" charset="0"/>
              </a:rPr>
              <a:t> Mini Project 5</a:t>
            </a:r>
          </a:p>
        </p:txBody>
      </p:sp>
      <p:sp>
        <p:nvSpPr>
          <p:cNvPr id="4" name="TextBox 3">
            <a:extLst>
              <a:ext uri="{FF2B5EF4-FFF2-40B4-BE49-F238E27FC236}">
                <a16:creationId xmlns:a16="http://schemas.microsoft.com/office/drawing/2014/main" id="{836446C8-475A-ED30-9FA5-F5A0DE3E7AE3}"/>
              </a:ext>
            </a:extLst>
          </p:cNvPr>
          <p:cNvSpPr txBox="1"/>
          <p:nvPr/>
        </p:nvSpPr>
        <p:spPr>
          <a:xfrm>
            <a:off x="3360929" y="4996973"/>
            <a:ext cx="8351774" cy="1477328"/>
          </a:xfrm>
          <a:prstGeom prst="rect">
            <a:avLst/>
          </a:prstGeom>
          <a:noFill/>
        </p:spPr>
        <p:txBody>
          <a:bodyPr wrap="none" rtlCol="0">
            <a:spAutoFit/>
          </a:bodyPr>
          <a:lstStyle/>
          <a:p>
            <a:pPr algn="r"/>
            <a:r>
              <a:rPr lang="en-US" dirty="0">
                <a:latin typeface="Times New Roman" panose="02020603050405020304" pitchFamily="18" charset="0"/>
                <a:cs typeface="Times New Roman" panose="02020603050405020304" pitchFamily="18" charset="0"/>
              </a:rPr>
              <a:t>Presented By </a:t>
            </a:r>
          </a:p>
          <a:p>
            <a:pPr algn="r"/>
            <a:r>
              <a:rPr lang="en-US" dirty="0">
                <a:latin typeface="Times New Roman" panose="02020603050405020304" pitchFamily="18" charset="0"/>
                <a:cs typeface="Times New Roman" panose="02020603050405020304" pitchFamily="18" charset="0"/>
              </a:rPr>
              <a:t>                                                                                       Anushka T</a:t>
            </a:r>
          </a:p>
          <a:p>
            <a:pPr algn="r"/>
            <a:r>
              <a:rPr lang="en-US" dirty="0">
                <a:latin typeface="Times New Roman" panose="02020603050405020304" pitchFamily="18" charset="0"/>
                <a:cs typeface="Times New Roman" panose="02020603050405020304" pitchFamily="18" charset="0"/>
              </a:rPr>
              <a:t>                                                                                            Weekday batch (AIML)</a:t>
            </a:r>
          </a:p>
          <a:p>
            <a:r>
              <a:rPr lang="en-IN" dirty="0"/>
              <a:t>              </a:t>
            </a:r>
          </a:p>
          <a:p>
            <a:endParaRPr lang="en-IN" dirty="0"/>
          </a:p>
        </p:txBody>
      </p:sp>
    </p:spTree>
    <p:extLst>
      <p:ext uri="{BB962C8B-B14F-4D97-AF65-F5344CB8AC3E}">
        <p14:creationId xmlns:p14="http://schemas.microsoft.com/office/powerpoint/2010/main" val="32749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2FC95-CB33-6725-6C8C-9CB6E6839EF2}"/>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D1C67CEC-EBE0-7D9E-9A4C-81A0611623AB}"/>
              </a:ext>
            </a:extLst>
          </p:cNvPr>
          <p:cNvSpPr>
            <a:spLocks noGrp="1"/>
          </p:cNvSpPr>
          <p:nvPr>
            <p:ph idx="1"/>
          </p:nvPr>
        </p:nvSpPr>
        <p:spPr/>
        <p:txBody>
          <a:bodyPr/>
          <a:lstStyle/>
          <a:p>
            <a:pPr marL="0" indent="0">
              <a:buNone/>
            </a:pPr>
            <a:r>
              <a:rPr lang="en-IN" b="1" dirty="0"/>
              <a:t>Artificial Intelligence &amp; RAG</a:t>
            </a:r>
          </a:p>
          <a:p>
            <a:pPr lvl="1"/>
            <a:r>
              <a:rPr lang="en-IN" dirty="0"/>
              <a:t>Retrieval-Augmented Generation (RAG) combines information retrieval with Large Language Models. </a:t>
            </a:r>
          </a:p>
          <a:p>
            <a:pPr lvl="1"/>
            <a:r>
              <a:rPr lang="en-IN" dirty="0"/>
              <a:t>It retrieves relevant information from external documents before generating responses. </a:t>
            </a:r>
          </a:p>
          <a:p>
            <a:pPr lvl="1"/>
            <a:r>
              <a:rPr lang="en-IN" dirty="0"/>
              <a:t>This approach reduces hallucinations and improves answer accuracy</a:t>
            </a:r>
          </a:p>
          <a:p>
            <a:endParaRPr lang="en-IN" dirty="0"/>
          </a:p>
        </p:txBody>
      </p:sp>
    </p:spTree>
    <p:extLst>
      <p:ext uri="{BB962C8B-B14F-4D97-AF65-F5344CB8AC3E}">
        <p14:creationId xmlns:p14="http://schemas.microsoft.com/office/powerpoint/2010/main" val="157454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A2ED-7A62-0C04-290E-0A033C51A5C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7BB1BE5D-6327-91C1-740B-CED4408D05BC}"/>
              </a:ext>
            </a:extLst>
          </p:cNvPr>
          <p:cNvSpPr>
            <a:spLocks noGrp="1"/>
          </p:cNvSpPr>
          <p:nvPr>
            <p:ph idx="1"/>
          </p:nvPr>
        </p:nvSpPr>
        <p:spPr/>
        <p:txBody>
          <a:bodyPr>
            <a:normAutofit/>
          </a:bodyPr>
          <a:lstStyle/>
          <a:p>
            <a:pPr marL="0" indent="0" algn="just">
              <a:buNone/>
            </a:pPr>
            <a:r>
              <a:rPr lang="en-IN" dirty="0"/>
              <a:t>Develop an intelligent AI-powered chatbot system that can process multiple documents (PDFs, text files) and allow users to ask questions in natural language. The system should retrieve relevant information from the documents and generate accurate, context-aware responses using a Large Language Model (LLM) and Retrieval-Augmented Generation (RAG).</a:t>
            </a:r>
            <a:endParaRPr lang="en-IN" b="0" dirty="0">
              <a:effectLst/>
            </a:endParaRPr>
          </a:p>
          <a:p>
            <a:pPr marL="0" indent="0">
              <a:buNone/>
            </a:pPr>
            <a:br>
              <a:rPr lang="en-IN" dirty="0"/>
            </a:br>
            <a:endParaRPr lang="en-IN" dirty="0"/>
          </a:p>
        </p:txBody>
      </p:sp>
    </p:spTree>
    <p:extLst>
      <p:ext uri="{BB962C8B-B14F-4D97-AF65-F5344CB8AC3E}">
        <p14:creationId xmlns:p14="http://schemas.microsoft.com/office/powerpoint/2010/main" val="81881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2E46-B33A-9474-9238-B6E4C926C9A0}"/>
              </a:ext>
            </a:extLst>
          </p:cNvPr>
          <p:cNvSpPr>
            <a:spLocks noGrp="1"/>
          </p:cNvSpPr>
          <p:nvPr>
            <p:ph type="title"/>
          </p:nvPr>
        </p:nvSpPr>
        <p:spPr/>
        <p:txBody>
          <a:bodyPr/>
          <a:lstStyle/>
          <a:p>
            <a:r>
              <a:rPr lang="en-IN" dirty="0"/>
              <a:t> Objectives</a:t>
            </a:r>
          </a:p>
        </p:txBody>
      </p:sp>
      <p:sp>
        <p:nvSpPr>
          <p:cNvPr id="3" name="Content Placeholder 2">
            <a:extLst>
              <a:ext uri="{FF2B5EF4-FFF2-40B4-BE49-F238E27FC236}">
                <a16:creationId xmlns:a16="http://schemas.microsoft.com/office/drawing/2014/main" id="{91CBEFD9-30A2-051A-C227-0385E847E056}"/>
              </a:ext>
            </a:extLst>
          </p:cNvPr>
          <p:cNvSpPr>
            <a:spLocks noGrp="1"/>
          </p:cNvSpPr>
          <p:nvPr>
            <p:ph idx="1"/>
          </p:nvPr>
        </p:nvSpPr>
        <p:spPr/>
        <p:txBody>
          <a:bodyPr/>
          <a:lstStyle/>
          <a:p>
            <a:r>
              <a:rPr lang="en-IN" dirty="0"/>
              <a:t>Develop an AI-powered assistant for document question answering. </a:t>
            </a:r>
          </a:p>
          <a:p>
            <a:r>
              <a:rPr lang="en-IN" dirty="0"/>
              <a:t>Retrieve relevant information using FAISS and RAG. </a:t>
            </a:r>
          </a:p>
          <a:p>
            <a:r>
              <a:rPr lang="en-IN" dirty="0"/>
              <a:t>Generate accurate, context-aware responses. </a:t>
            </a:r>
          </a:p>
          <a:p>
            <a:r>
              <a:rPr lang="en-IN" dirty="0"/>
              <a:t>Improve document accessibility and reduce manual search time. </a:t>
            </a:r>
          </a:p>
          <a:p>
            <a:endParaRPr lang="en-IN" dirty="0"/>
          </a:p>
        </p:txBody>
      </p:sp>
    </p:spTree>
    <p:extLst>
      <p:ext uri="{BB962C8B-B14F-4D97-AF65-F5344CB8AC3E}">
        <p14:creationId xmlns:p14="http://schemas.microsoft.com/office/powerpoint/2010/main" val="2637490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67F9-C0C2-5737-9C0E-5E167FF3D3D1}"/>
              </a:ext>
            </a:extLst>
          </p:cNvPr>
          <p:cNvSpPr>
            <a:spLocks noGrp="1"/>
          </p:cNvSpPr>
          <p:nvPr>
            <p:ph type="title"/>
          </p:nvPr>
        </p:nvSpPr>
        <p:spPr/>
        <p:txBody>
          <a:bodyPr/>
          <a:lstStyle/>
          <a:p>
            <a:r>
              <a:rPr lang="en-US" dirty="0"/>
              <a:t>RAG Architecture</a:t>
            </a:r>
            <a:endParaRPr lang="en-IN" dirty="0"/>
          </a:p>
        </p:txBody>
      </p:sp>
      <p:pic>
        <p:nvPicPr>
          <p:cNvPr id="5" name="Content Placeholder 4" descr="The image illustrates a personal AI knowledge assistant's architecture, detailing the process from document ingestion to question answering, involving text extraction, chunking, embedding generation, and retrieval using FAISS and Gemini.&#10;&#10;AI-generated content may be incorrect.">
            <a:extLst>
              <a:ext uri="{FF2B5EF4-FFF2-40B4-BE49-F238E27FC236}">
                <a16:creationId xmlns:a16="http://schemas.microsoft.com/office/drawing/2014/main" id="{3E22A32E-5F4E-9FAD-E094-6979AD06EAC3}"/>
              </a:ext>
            </a:extLst>
          </p:cNvPr>
          <p:cNvPicPr>
            <a:picLocks noGrp="1" noChangeAspect="1"/>
          </p:cNvPicPr>
          <p:nvPr>
            <p:ph idx="1"/>
          </p:nvPr>
        </p:nvPicPr>
        <p:blipFill>
          <a:blip r:embed="rId2"/>
          <a:stretch>
            <a:fillRect/>
          </a:stretch>
        </p:blipFill>
        <p:spPr>
          <a:xfrm>
            <a:off x="1346200" y="1447800"/>
            <a:ext cx="9525000" cy="4729163"/>
          </a:xfrm>
          <a:prstGeom prst="rect">
            <a:avLst/>
          </a:prstGeom>
        </p:spPr>
      </p:pic>
    </p:spTree>
    <p:extLst>
      <p:ext uri="{BB962C8B-B14F-4D97-AF65-F5344CB8AC3E}">
        <p14:creationId xmlns:p14="http://schemas.microsoft.com/office/powerpoint/2010/main" val="1312835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18E6D9-C328-B198-F9A2-532DEA7E4D06}"/>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Technologies Used</a:t>
            </a: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11">
            <a:extLst>
              <a:ext uri="{FF2B5EF4-FFF2-40B4-BE49-F238E27FC236}">
                <a16:creationId xmlns:a16="http://schemas.microsoft.com/office/drawing/2014/main" id="{6349BFAE-3EC4-489E-EB57-4C34B8E231FB}"/>
              </a:ext>
            </a:extLst>
          </p:cNvPr>
          <p:cNvGraphicFramePr>
            <a:graphicFrameLocks noGrp="1"/>
          </p:cNvGraphicFramePr>
          <p:nvPr>
            <p:ph idx="1"/>
            <p:extLst>
              <p:ext uri="{D42A27DB-BD31-4B8C-83A1-F6EECF244321}">
                <p14:modId xmlns:p14="http://schemas.microsoft.com/office/powerpoint/2010/main" val="2635264992"/>
              </p:ext>
            </p:extLst>
          </p:nvPr>
        </p:nvGraphicFramePr>
        <p:xfrm>
          <a:off x="371997" y="2633472"/>
          <a:ext cx="11444958" cy="3586360"/>
        </p:xfrm>
        <a:graphic>
          <a:graphicData uri="http://schemas.openxmlformats.org/drawingml/2006/table">
            <a:tbl>
              <a:tblPr>
                <a:tableStyleId>{8799B23B-EC83-4686-B30A-512413B5E67A}</a:tableStyleId>
              </a:tblPr>
              <a:tblGrid>
                <a:gridCol w="5674949">
                  <a:extLst>
                    <a:ext uri="{9D8B030D-6E8A-4147-A177-3AD203B41FA5}">
                      <a16:colId xmlns:a16="http://schemas.microsoft.com/office/drawing/2014/main" val="3419784223"/>
                    </a:ext>
                  </a:extLst>
                </a:gridCol>
                <a:gridCol w="5770009">
                  <a:extLst>
                    <a:ext uri="{9D8B030D-6E8A-4147-A177-3AD203B41FA5}">
                      <a16:colId xmlns:a16="http://schemas.microsoft.com/office/drawing/2014/main" val="2692135486"/>
                    </a:ext>
                  </a:extLst>
                </a:gridCol>
              </a:tblGrid>
              <a:tr h="448295">
                <a:tc>
                  <a:txBody>
                    <a:bodyPr/>
                    <a:lstStyle/>
                    <a:p>
                      <a:pPr>
                        <a:buNone/>
                      </a:pPr>
                      <a:r>
                        <a:rPr lang="en-IN" sz="2000" b="1" dirty="0"/>
                        <a:t>Component</a:t>
                      </a:r>
                    </a:p>
                  </a:txBody>
                  <a:tcPr marL="101885" marR="101885" marT="50943" marB="50943" anchor="ctr"/>
                </a:tc>
                <a:tc>
                  <a:txBody>
                    <a:bodyPr/>
                    <a:lstStyle/>
                    <a:p>
                      <a:pPr>
                        <a:buNone/>
                      </a:pPr>
                      <a:r>
                        <a:rPr lang="en-IN" sz="2000" b="1" dirty="0"/>
                        <a:t>Technology</a:t>
                      </a:r>
                    </a:p>
                  </a:txBody>
                  <a:tcPr marL="101885" marR="101885" marT="50943" marB="50943" anchor="ctr"/>
                </a:tc>
                <a:extLst>
                  <a:ext uri="{0D108BD9-81ED-4DB2-BD59-A6C34878D82A}">
                    <a16:rowId xmlns:a16="http://schemas.microsoft.com/office/drawing/2014/main" val="490680717"/>
                  </a:ext>
                </a:extLst>
              </a:tr>
              <a:tr h="448295">
                <a:tc>
                  <a:txBody>
                    <a:bodyPr/>
                    <a:lstStyle/>
                    <a:p>
                      <a:pPr>
                        <a:buNone/>
                      </a:pPr>
                      <a:r>
                        <a:rPr lang="en-IN" sz="2000"/>
                        <a:t>Frontend</a:t>
                      </a:r>
                    </a:p>
                  </a:txBody>
                  <a:tcPr marL="101885" marR="101885" marT="50943" marB="50943" anchor="ctr"/>
                </a:tc>
                <a:tc>
                  <a:txBody>
                    <a:bodyPr/>
                    <a:lstStyle/>
                    <a:p>
                      <a:pPr>
                        <a:buNone/>
                      </a:pPr>
                      <a:r>
                        <a:rPr lang="en-IN" sz="2000"/>
                        <a:t>Streamlit</a:t>
                      </a:r>
                    </a:p>
                  </a:txBody>
                  <a:tcPr marL="101885" marR="101885" marT="50943" marB="50943" anchor="ctr"/>
                </a:tc>
                <a:extLst>
                  <a:ext uri="{0D108BD9-81ED-4DB2-BD59-A6C34878D82A}">
                    <a16:rowId xmlns:a16="http://schemas.microsoft.com/office/drawing/2014/main" val="1701036282"/>
                  </a:ext>
                </a:extLst>
              </a:tr>
              <a:tr h="448295">
                <a:tc>
                  <a:txBody>
                    <a:bodyPr/>
                    <a:lstStyle/>
                    <a:p>
                      <a:pPr>
                        <a:buNone/>
                      </a:pPr>
                      <a:r>
                        <a:rPr lang="en-IN" sz="2000"/>
                        <a:t>PDF Processing</a:t>
                      </a:r>
                    </a:p>
                  </a:txBody>
                  <a:tcPr marL="101885" marR="101885" marT="50943" marB="50943" anchor="ctr"/>
                </a:tc>
                <a:tc>
                  <a:txBody>
                    <a:bodyPr/>
                    <a:lstStyle/>
                    <a:p>
                      <a:pPr>
                        <a:buNone/>
                      </a:pPr>
                      <a:r>
                        <a:rPr lang="en-IN" sz="2000"/>
                        <a:t>PyPDF</a:t>
                      </a:r>
                    </a:p>
                  </a:txBody>
                  <a:tcPr marL="101885" marR="101885" marT="50943" marB="50943" anchor="ctr"/>
                </a:tc>
                <a:extLst>
                  <a:ext uri="{0D108BD9-81ED-4DB2-BD59-A6C34878D82A}">
                    <a16:rowId xmlns:a16="http://schemas.microsoft.com/office/drawing/2014/main" val="3426312646"/>
                  </a:ext>
                </a:extLst>
              </a:tr>
              <a:tr h="448295">
                <a:tc>
                  <a:txBody>
                    <a:bodyPr/>
                    <a:lstStyle/>
                    <a:p>
                      <a:pPr>
                        <a:buNone/>
                      </a:pPr>
                      <a:r>
                        <a:rPr lang="en-IN" sz="2000"/>
                        <a:t>Chunking</a:t>
                      </a:r>
                    </a:p>
                  </a:txBody>
                  <a:tcPr marL="101885" marR="101885" marT="50943" marB="50943" anchor="ctr"/>
                </a:tc>
                <a:tc>
                  <a:txBody>
                    <a:bodyPr/>
                    <a:lstStyle/>
                    <a:p>
                      <a:pPr>
                        <a:buNone/>
                      </a:pPr>
                      <a:r>
                        <a:rPr lang="en-IN" sz="2000"/>
                        <a:t>LangChain Text Splitter</a:t>
                      </a:r>
                    </a:p>
                  </a:txBody>
                  <a:tcPr marL="101885" marR="101885" marT="50943" marB="50943" anchor="ctr"/>
                </a:tc>
                <a:extLst>
                  <a:ext uri="{0D108BD9-81ED-4DB2-BD59-A6C34878D82A}">
                    <a16:rowId xmlns:a16="http://schemas.microsoft.com/office/drawing/2014/main" val="1579000394"/>
                  </a:ext>
                </a:extLst>
              </a:tr>
              <a:tr h="448295">
                <a:tc>
                  <a:txBody>
                    <a:bodyPr/>
                    <a:lstStyle/>
                    <a:p>
                      <a:pPr>
                        <a:buNone/>
                      </a:pPr>
                      <a:r>
                        <a:rPr lang="en-IN" sz="2000"/>
                        <a:t>Embeddings</a:t>
                      </a:r>
                    </a:p>
                  </a:txBody>
                  <a:tcPr marL="101885" marR="101885" marT="50943" marB="50943" anchor="ctr"/>
                </a:tc>
                <a:tc>
                  <a:txBody>
                    <a:bodyPr/>
                    <a:lstStyle/>
                    <a:p>
                      <a:pPr>
                        <a:buNone/>
                      </a:pPr>
                      <a:r>
                        <a:rPr lang="en-IN" sz="2000" dirty="0"/>
                        <a:t>all-MiniLM-L6-v2</a:t>
                      </a:r>
                    </a:p>
                  </a:txBody>
                  <a:tcPr marL="101885" marR="101885" marT="50943" marB="50943" anchor="ctr"/>
                </a:tc>
                <a:extLst>
                  <a:ext uri="{0D108BD9-81ED-4DB2-BD59-A6C34878D82A}">
                    <a16:rowId xmlns:a16="http://schemas.microsoft.com/office/drawing/2014/main" val="2742799512"/>
                  </a:ext>
                </a:extLst>
              </a:tr>
              <a:tr h="448295">
                <a:tc>
                  <a:txBody>
                    <a:bodyPr/>
                    <a:lstStyle/>
                    <a:p>
                      <a:pPr>
                        <a:buNone/>
                      </a:pPr>
                      <a:r>
                        <a:rPr lang="en-IN" sz="2000"/>
                        <a:t>Vector Database</a:t>
                      </a:r>
                    </a:p>
                  </a:txBody>
                  <a:tcPr marL="101885" marR="101885" marT="50943" marB="50943" anchor="ctr"/>
                </a:tc>
                <a:tc>
                  <a:txBody>
                    <a:bodyPr/>
                    <a:lstStyle/>
                    <a:p>
                      <a:pPr>
                        <a:buNone/>
                      </a:pPr>
                      <a:r>
                        <a:rPr lang="en-IN" sz="2000" dirty="0"/>
                        <a:t>FAISS</a:t>
                      </a:r>
                    </a:p>
                  </a:txBody>
                  <a:tcPr marL="101885" marR="101885" marT="50943" marB="50943" anchor="ctr"/>
                </a:tc>
                <a:extLst>
                  <a:ext uri="{0D108BD9-81ED-4DB2-BD59-A6C34878D82A}">
                    <a16:rowId xmlns:a16="http://schemas.microsoft.com/office/drawing/2014/main" val="1871382216"/>
                  </a:ext>
                </a:extLst>
              </a:tr>
              <a:tr h="448295">
                <a:tc>
                  <a:txBody>
                    <a:bodyPr/>
                    <a:lstStyle/>
                    <a:p>
                      <a:pPr>
                        <a:buNone/>
                      </a:pPr>
                      <a:r>
                        <a:rPr lang="en-IN" sz="2000"/>
                        <a:t>LLM</a:t>
                      </a:r>
                    </a:p>
                  </a:txBody>
                  <a:tcPr marL="101885" marR="101885" marT="50943" marB="50943" anchor="ctr"/>
                </a:tc>
                <a:tc>
                  <a:txBody>
                    <a:bodyPr/>
                    <a:lstStyle/>
                    <a:p>
                      <a:pPr>
                        <a:buNone/>
                      </a:pPr>
                      <a:r>
                        <a:rPr lang="en-IN" sz="2000"/>
                        <a:t>Google Gemini</a:t>
                      </a:r>
                    </a:p>
                  </a:txBody>
                  <a:tcPr marL="101885" marR="101885" marT="50943" marB="50943" anchor="ctr"/>
                </a:tc>
                <a:extLst>
                  <a:ext uri="{0D108BD9-81ED-4DB2-BD59-A6C34878D82A}">
                    <a16:rowId xmlns:a16="http://schemas.microsoft.com/office/drawing/2014/main" val="3994958690"/>
                  </a:ext>
                </a:extLst>
              </a:tr>
              <a:tr h="448295">
                <a:tc>
                  <a:txBody>
                    <a:bodyPr/>
                    <a:lstStyle/>
                    <a:p>
                      <a:pPr>
                        <a:buNone/>
                      </a:pPr>
                      <a:r>
                        <a:rPr lang="en-IN" sz="2000"/>
                        <a:t>Environment Variables</a:t>
                      </a:r>
                    </a:p>
                  </a:txBody>
                  <a:tcPr marL="101885" marR="101885" marT="50943" marB="50943" anchor="ctr"/>
                </a:tc>
                <a:tc>
                  <a:txBody>
                    <a:bodyPr/>
                    <a:lstStyle/>
                    <a:p>
                      <a:pPr>
                        <a:buNone/>
                      </a:pPr>
                      <a:r>
                        <a:rPr lang="en-IN" sz="2000" dirty="0"/>
                        <a:t>python-</a:t>
                      </a:r>
                      <a:r>
                        <a:rPr lang="en-IN" sz="2000" dirty="0" err="1"/>
                        <a:t>dotenv</a:t>
                      </a:r>
                      <a:endParaRPr lang="en-IN" sz="2000" dirty="0"/>
                    </a:p>
                  </a:txBody>
                  <a:tcPr marL="101885" marR="101885" marT="50943" marB="50943" anchor="ctr"/>
                </a:tc>
                <a:extLst>
                  <a:ext uri="{0D108BD9-81ED-4DB2-BD59-A6C34878D82A}">
                    <a16:rowId xmlns:a16="http://schemas.microsoft.com/office/drawing/2014/main" val="3095206925"/>
                  </a:ext>
                </a:extLst>
              </a:tr>
            </a:tbl>
          </a:graphicData>
        </a:graphic>
      </p:graphicFrame>
    </p:spTree>
    <p:extLst>
      <p:ext uri="{BB962C8B-B14F-4D97-AF65-F5344CB8AC3E}">
        <p14:creationId xmlns:p14="http://schemas.microsoft.com/office/powerpoint/2010/main" val="2075462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9BEF-AB62-9715-24F7-FBDA75478378}"/>
              </a:ext>
            </a:extLst>
          </p:cNvPr>
          <p:cNvSpPr>
            <a:spLocks noGrp="1"/>
          </p:cNvSpPr>
          <p:nvPr>
            <p:ph type="title"/>
          </p:nvPr>
        </p:nvSpPr>
        <p:spPr/>
        <p:txBody>
          <a:bodyPr/>
          <a:lstStyle/>
          <a:p>
            <a:r>
              <a:rPr lang="en-IN" dirty="0"/>
              <a:t>Algorithms/Models</a:t>
            </a:r>
          </a:p>
        </p:txBody>
      </p:sp>
      <p:graphicFrame>
        <p:nvGraphicFramePr>
          <p:cNvPr id="4" name="Content Placeholder 3">
            <a:extLst>
              <a:ext uri="{FF2B5EF4-FFF2-40B4-BE49-F238E27FC236}">
                <a16:creationId xmlns:a16="http://schemas.microsoft.com/office/drawing/2014/main" id="{C4C05460-04C3-AAFD-68C4-82EAAEEEF9D9}"/>
              </a:ext>
            </a:extLst>
          </p:cNvPr>
          <p:cNvGraphicFramePr>
            <a:graphicFrameLocks noGrp="1"/>
          </p:cNvGraphicFramePr>
          <p:nvPr>
            <p:ph idx="1"/>
            <p:extLst>
              <p:ext uri="{D42A27DB-BD31-4B8C-83A1-F6EECF244321}">
                <p14:modId xmlns:p14="http://schemas.microsoft.com/office/powerpoint/2010/main" val="3690396116"/>
              </p:ext>
            </p:extLst>
          </p:nvPr>
        </p:nvGraphicFramePr>
        <p:xfrm>
          <a:off x="1143001" y="1690688"/>
          <a:ext cx="10515600" cy="4035630"/>
        </p:xfrm>
        <a:graphic>
          <a:graphicData uri="http://schemas.openxmlformats.org/drawingml/2006/table">
            <a:tbl>
              <a:tblPr>
                <a:tableStyleId>{5940675A-B579-460E-94D1-54222C63F5DA}</a:tableStyleId>
              </a:tblPr>
              <a:tblGrid>
                <a:gridCol w="3292761">
                  <a:extLst>
                    <a:ext uri="{9D8B030D-6E8A-4147-A177-3AD203B41FA5}">
                      <a16:colId xmlns:a16="http://schemas.microsoft.com/office/drawing/2014/main" val="1652563738"/>
                    </a:ext>
                  </a:extLst>
                </a:gridCol>
                <a:gridCol w="7222839">
                  <a:extLst>
                    <a:ext uri="{9D8B030D-6E8A-4147-A177-3AD203B41FA5}">
                      <a16:colId xmlns:a16="http://schemas.microsoft.com/office/drawing/2014/main" val="1246492022"/>
                    </a:ext>
                  </a:extLst>
                </a:gridCol>
              </a:tblGrid>
              <a:tr h="672605">
                <a:tc>
                  <a:txBody>
                    <a:bodyPr/>
                    <a:lstStyle/>
                    <a:p>
                      <a:pPr>
                        <a:buNone/>
                      </a:pPr>
                      <a:r>
                        <a:rPr lang="en-IN" b="1" dirty="0"/>
                        <a:t>Component</a:t>
                      </a:r>
                    </a:p>
                  </a:txBody>
                  <a:tcPr anchor="ctr"/>
                </a:tc>
                <a:tc>
                  <a:txBody>
                    <a:bodyPr/>
                    <a:lstStyle/>
                    <a:p>
                      <a:pPr>
                        <a:buNone/>
                      </a:pPr>
                      <a:r>
                        <a:rPr lang="en-IN" b="1" dirty="0"/>
                        <a:t>Type</a:t>
                      </a:r>
                    </a:p>
                  </a:txBody>
                  <a:tcPr anchor="ctr"/>
                </a:tc>
                <a:extLst>
                  <a:ext uri="{0D108BD9-81ED-4DB2-BD59-A6C34878D82A}">
                    <a16:rowId xmlns:a16="http://schemas.microsoft.com/office/drawing/2014/main" val="507741023"/>
                  </a:ext>
                </a:extLst>
              </a:tr>
              <a:tr h="672605">
                <a:tc>
                  <a:txBody>
                    <a:bodyPr/>
                    <a:lstStyle/>
                    <a:p>
                      <a:pPr>
                        <a:buNone/>
                      </a:pPr>
                      <a:r>
                        <a:rPr lang="en-IN" dirty="0"/>
                        <a:t>Sentence Transformer</a:t>
                      </a:r>
                    </a:p>
                  </a:txBody>
                  <a:tcPr anchor="ctr"/>
                </a:tc>
                <a:tc>
                  <a:txBody>
                    <a:bodyPr/>
                    <a:lstStyle/>
                    <a:p>
                      <a:pPr>
                        <a:buNone/>
                      </a:pPr>
                      <a:r>
                        <a:rPr lang="en-IN"/>
                        <a:t>Deep Learning / Transformer-based NLP Model</a:t>
                      </a:r>
                    </a:p>
                  </a:txBody>
                  <a:tcPr anchor="ctr"/>
                </a:tc>
                <a:extLst>
                  <a:ext uri="{0D108BD9-81ED-4DB2-BD59-A6C34878D82A}">
                    <a16:rowId xmlns:a16="http://schemas.microsoft.com/office/drawing/2014/main" val="1251141682"/>
                  </a:ext>
                </a:extLst>
              </a:tr>
              <a:tr h="672605">
                <a:tc>
                  <a:txBody>
                    <a:bodyPr/>
                    <a:lstStyle/>
                    <a:p>
                      <a:pPr>
                        <a:buNone/>
                      </a:pPr>
                      <a:r>
                        <a:rPr lang="en-IN" dirty="0"/>
                        <a:t>FAISS</a:t>
                      </a:r>
                    </a:p>
                  </a:txBody>
                  <a:tcPr anchor="ctr"/>
                </a:tc>
                <a:tc>
                  <a:txBody>
                    <a:bodyPr/>
                    <a:lstStyle/>
                    <a:p>
                      <a:pPr>
                        <a:buNone/>
                      </a:pPr>
                      <a:r>
                        <a:rPr lang="en-IN"/>
                        <a:t>Vector Search and Indexing Algorithm</a:t>
                      </a:r>
                    </a:p>
                  </a:txBody>
                  <a:tcPr anchor="ctr"/>
                </a:tc>
                <a:extLst>
                  <a:ext uri="{0D108BD9-81ED-4DB2-BD59-A6C34878D82A}">
                    <a16:rowId xmlns:a16="http://schemas.microsoft.com/office/drawing/2014/main" val="1064629322"/>
                  </a:ext>
                </a:extLst>
              </a:tr>
              <a:tr h="672605">
                <a:tc>
                  <a:txBody>
                    <a:bodyPr/>
                    <a:lstStyle/>
                    <a:p>
                      <a:pPr>
                        <a:buNone/>
                      </a:pPr>
                      <a:r>
                        <a:rPr lang="en-IN" dirty="0"/>
                        <a:t>Cosine Similarity</a:t>
                      </a:r>
                    </a:p>
                  </a:txBody>
                  <a:tcPr anchor="ctr"/>
                </a:tc>
                <a:tc>
                  <a:txBody>
                    <a:bodyPr/>
                    <a:lstStyle/>
                    <a:p>
                      <a:pPr>
                        <a:buNone/>
                      </a:pPr>
                      <a:r>
                        <a:rPr lang="en-IN"/>
                        <a:t>Similarity Measurement Algorithm</a:t>
                      </a:r>
                    </a:p>
                  </a:txBody>
                  <a:tcPr anchor="ctr"/>
                </a:tc>
                <a:extLst>
                  <a:ext uri="{0D108BD9-81ED-4DB2-BD59-A6C34878D82A}">
                    <a16:rowId xmlns:a16="http://schemas.microsoft.com/office/drawing/2014/main" val="2134068855"/>
                  </a:ext>
                </a:extLst>
              </a:tr>
              <a:tr h="672605">
                <a:tc>
                  <a:txBody>
                    <a:bodyPr/>
                    <a:lstStyle/>
                    <a:p>
                      <a:pPr>
                        <a:buNone/>
                      </a:pPr>
                      <a:r>
                        <a:rPr lang="en-IN" dirty="0"/>
                        <a:t>Gemini</a:t>
                      </a:r>
                    </a:p>
                  </a:txBody>
                  <a:tcPr anchor="ctr"/>
                </a:tc>
                <a:tc>
                  <a:txBody>
                    <a:bodyPr/>
                    <a:lstStyle/>
                    <a:p>
                      <a:pPr>
                        <a:buNone/>
                      </a:pPr>
                      <a:r>
                        <a:rPr lang="en-IN"/>
                        <a:t>Large Language Model (LLM)</a:t>
                      </a:r>
                    </a:p>
                  </a:txBody>
                  <a:tcPr anchor="ctr"/>
                </a:tc>
                <a:extLst>
                  <a:ext uri="{0D108BD9-81ED-4DB2-BD59-A6C34878D82A}">
                    <a16:rowId xmlns:a16="http://schemas.microsoft.com/office/drawing/2014/main" val="3178377820"/>
                  </a:ext>
                </a:extLst>
              </a:tr>
              <a:tr h="672605">
                <a:tc>
                  <a:txBody>
                    <a:bodyPr/>
                    <a:lstStyle/>
                    <a:p>
                      <a:pPr>
                        <a:buNone/>
                      </a:pPr>
                      <a:r>
                        <a:rPr lang="en-IN"/>
                        <a:t>RAG</a:t>
                      </a:r>
                    </a:p>
                  </a:txBody>
                  <a:tcPr anchor="ctr"/>
                </a:tc>
                <a:tc>
                  <a:txBody>
                    <a:bodyPr/>
                    <a:lstStyle/>
                    <a:p>
                      <a:pPr>
                        <a:buNone/>
                      </a:pPr>
                      <a:r>
                        <a:rPr lang="en-IN" dirty="0"/>
                        <a:t>AI Architecture / Framework</a:t>
                      </a:r>
                    </a:p>
                  </a:txBody>
                  <a:tcPr anchor="ctr"/>
                </a:tc>
                <a:extLst>
                  <a:ext uri="{0D108BD9-81ED-4DB2-BD59-A6C34878D82A}">
                    <a16:rowId xmlns:a16="http://schemas.microsoft.com/office/drawing/2014/main" val="1906946475"/>
                  </a:ext>
                </a:extLst>
              </a:tr>
            </a:tbl>
          </a:graphicData>
        </a:graphic>
      </p:graphicFrame>
    </p:spTree>
    <p:extLst>
      <p:ext uri="{BB962C8B-B14F-4D97-AF65-F5344CB8AC3E}">
        <p14:creationId xmlns:p14="http://schemas.microsoft.com/office/powerpoint/2010/main" val="2591116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9C62-3A5C-6778-FB03-5C49990CC716}"/>
              </a:ext>
            </a:extLst>
          </p:cNvPr>
          <p:cNvSpPr>
            <a:spLocks noGrp="1"/>
          </p:cNvSpPr>
          <p:nvPr>
            <p:ph type="title"/>
          </p:nvPr>
        </p:nvSpPr>
        <p:spPr/>
        <p:txBody>
          <a:bodyPr/>
          <a:lstStyle/>
          <a:p>
            <a:r>
              <a:rPr lang="en-IN" dirty="0"/>
              <a:t>Features Implemented</a:t>
            </a:r>
          </a:p>
        </p:txBody>
      </p:sp>
      <p:sp>
        <p:nvSpPr>
          <p:cNvPr id="3" name="Content Placeholder 2">
            <a:extLst>
              <a:ext uri="{FF2B5EF4-FFF2-40B4-BE49-F238E27FC236}">
                <a16:creationId xmlns:a16="http://schemas.microsoft.com/office/drawing/2014/main" id="{72D742FF-2F74-2926-EA7D-317D2DA5E520}"/>
              </a:ext>
            </a:extLst>
          </p:cNvPr>
          <p:cNvSpPr>
            <a:spLocks noGrp="1"/>
          </p:cNvSpPr>
          <p:nvPr>
            <p:ph idx="1"/>
          </p:nvPr>
        </p:nvSpPr>
        <p:spPr/>
        <p:txBody>
          <a:bodyPr>
            <a:normAutofit/>
          </a:bodyPr>
          <a:lstStyle/>
          <a:p>
            <a:pPr marL="0" indent="0">
              <a:buNone/>
            </a:pPr>
            <a:r>
              <a:rPr lang="en-IN" dirty="0"/>
              <a:t>✅ Multiple PDF Upload</a:t>
            </a:r>
          </a:p>
          <a:p>
            <a:pPr marL="0" indent="0">
              <a:buNone/>
            </a:pPr>
            <a:r>
              <a:rPr lang="en-IN" dirty="0"/>
              <a:t>✅ Chat-based Interface</a:t>
            </a:r>
          </a:p>
          <a:p>
            <a:pPr marL="0" indent="0">
              <a:buNone/>
            </a:pPr>
            <a:r>
              <a:rPr lang="en-IN" dirty="0"/>
              <a:t>✅ Metadata Support</a:t>
            </a:r>
          </a:p>
          <a:p>
            <a:pPr lvl="1"/>
            <a:r>
              <a:rPr lang="en-IN" dirty="0"/>
              <a:t>Source Document Name </a:t>
            </a:r>
          </a:p>
          <a:p>
            <a:pPr lvl="1"/>
            <a:r>
              <a:rPr lang="en-IN" dirty="0"/>
              <a:t>Page Number </a:t>
            </a:r>
          </a:p>
          <a:p>
            <a:pPr marL="0" indent="0">
              <a:buNone/>
            </a:pPr>
            <a:r>
              <a:rPr lang="en-IN" dirty="0"/>
              <a:t>✅ Chat History</a:t>
            </a:r>
          </a:p>
          <a:p>
            <a:endParaRPr lang="en-IN" dirty="0"/>
          </a:p>
        </p:txBody>
      </p:sp>
    </p:spTree>
    <p:extLst>
      <p:ext uri="{BB962C8B-B14F-4D97-AF65-F5344CB8AC3E}">
        <p14:creationId xmlns:p14="http://schemas.microsoft.com/office/powerpoint/2010/main" val="2515031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3D250-7DB9-4101-2F76-AB4CF5673A0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Results and Demonstration</a:t>
            </a:r>
          </a:p>
        </p:txBody>
      </p:sp>
      <p:pic>
        <p:nvPicPr>
          <p:cNvPr id="5" name="Content Placeholder 4" descr="The image shows a document preview window on a webpage, with sections for personal assistant, chat, and uploading PDF files, and it includes information about a specific research paper.&#10;&#10;AI-generated content may be incorrect.">
            <a:extLst>
              <a:ext uri="{FF2B5EF4-FFF2-40B4-BE49-F238E27FC236}">
                <a16:creationId xmlns:a16="http://schemas.microsoft.com/office/drawing/2014/main" id="{F9131C1B-BCBF-E3D5-30CC-2440BBE8144A}"/>
              </a:ext>
            </a:extLst>
          </p:cNvPr>
          <p:cNvPicPr>
            <a:picLocks noGrp="1" noChangeAspect="1"/>
          </p:cNvPicPr>
          <p:nvPr>
            <p:ph idx="1"/>
          </p:nvPr>
        </p:nvPicPr>
        <p:blipFill>
          <a:blip r:embed="rId2"/>
          <a:stretch>
            <a:fillRect/>
          </a:stretch>
        </p:blipFill>
        <p:spPr>
          <a:xfrm>
            <a:off x="4343400" y="1007533"/>
            <a:ext cx="7214616" cy="4868334"/>
          </a:xfrm>
          <a:prstGeom prst="rect">
            <a:avLst/>
          </a:prstGeom>
        </p:spPr>
      </p:pic>
    </p:spTree>
    <p:extLst>
      <p:ext uri="{BB962C8B-B14F-4D97-AF65-F5344CB8AC3E}">
        <p14:creationId xmlns:p14="http://schemas.microsoft.com/office/powerpoint/2010/main" val="342410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5F095-53BA-F369-50AD-673A03389487}"/>
              </a:ext>
            </a:extLst>
          </p:cNvPr>
          <p:cNvSpPr>
            <a:spLocks noGrp="1"/>
          </p:cNvSpPr>
          <p:nvPr>
            <p:ph type="title"/>
          </p:nvPr>
        </p:nvSpPr>
        <p:spPr/>
        <p:txBody>
          <a:bodyPr/>
          <a:lstStyle/>
          <a:p>
            <a:r>
              <a:rPr lang="en-IN" dirty="0"/>
              <a:t>Conclusion &amp; Future Scope</a:t>
            </a:r>
          </a:p>
        </p:txBody>
      </p:sp>
      <p:sp>
        <p:nvSpPr>
          <p:cNvPr id="3" name="Content Placeholder 2">
            <a:extLst>
              <a:ext uri="{FF2B5EF4-FFF2-40B4-BE49-F238E27FC236}">
                <a16:creationId xmlns:a16="http://schemas.microsoft.com/office/drawing/2014/main" id="{DA0BC53F-C348-5BB2-7C3C-ECC8FB8BE7D1}"/>
              </a:ext>
            </a:extLst>
          </p:cNvPr>
          <p:cNvSpPr>
            <a:spLocks noGrp="1"/>
          </p:cNvSpPr>
          <p:nvPr>
            <p:ph idx="1"/>
          </p:nvPr>
        </p:nvSpPr>
        <p:spPr/>
        <p:txBody>
          <a:bodyPr>
            <a:normAutofit lnSpcReduction="10000"/>
          </a:bodyPr>
          <a:lstStyle/>
          <a:p>
            <a:pPr marL="0" indent="0">
              <a:buNone/>
            </a:pPr>
            <a:r>
              <a:rPr lang="en-IN" b="1" dirty="0"/>
              <a:t>Conclusion</a:t>
            </a:r>
          </a:p>
          <a:p>
            <a:pPr marL="0" indent="0" algn="just">
              <a:buNone/>
            </a:pPr>
            <a:r>
              <a:rPr lang="en-IN" dirty="0"/>
              <a:t>         A Personal AI Knowledge Assistant was successfully developed using RAG architecture. The system can retrieve information from uploaded PDFs and generate accurate, context-aware answers with source transparency.</a:t>
            </a:r>
          </a:p>
          <a:p>
            <a:pPr marL="0" indent="0">
              <a:buNone/>
            </a:pPr>
            <a:r>
              <a:rPr lang="en-IN" b="1" dirty="0"/>
              <a:t>Future Scope</a:t>
            </a:r>
          </a:p>
          <a:p>
            <a:pPr lvl="1"/>
            <a:r>
              <a:rPr lang="en-IN" dirty="0"/>
              <a:t>Support DOCX and Excel files. </a:t>
            </a:r>
          </a:p>
          <a:p>
            <a:pPr lvl="1"/>
            <a:r>
              <a:rPr lang="en-IN" dirty="0"/>
              <a:t>Voice-based interaction. </a:t>
            </a:r>
          </a:p>
          <a:p>
            <a:pPr lvl="1"/>
            <a:r>
              <a:rPr lang="en-IN" dirty="0"/>
              <a:t>Local LLM integration. </a:t>
            </a:r>
          </a:p>
          <a:p>
            <a:pPr lvl="1"/>
            <a:r>
              <a:rPr lang="en-IN" dirty="0"/>
              <a:t>Export chat responses. </a:t>
            </a:r>
          </a:p>
          <a:p>
            <a:pPr lvl="1"/>
            <a:r>
              <a:rPr lang="en-IN" dirty="0"/>
              <a:t>Web search integration.</a:t>
            </a:r>
          </a:p>
          <a:p>
            <a:endParaRPr lang="en-IN" dirty="0"/>
          </a:p>
        </p:txBody>
      </p:sp>
    </p:spTree>
    <p:extLst>
      <p:ext uri="{BB962C8B-B14F-4D97-AF65-F5344CB8AC3E}">
        <p14:creationId xmlns:p14="http://schemas.microsoft.com/office/powerpoint/2010/main" val="3434684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300</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Personal AI Knowledge Assistant using Retrieval-Augmented Generation (RAG)</vt:lpstr>
      <vt:lpstr>Introduction</vt:lpstr>
      <vt:lpstr>Problem Statement</vt:lpstr>
      <vt:lpstr> Objectives</vt:lpstr>
      <vt:lpstr>RAG Architecture</vt:lpstr>
      <vt:lpstr>Technologies Used</vt:lpstr>
      <vt:lpstr>Algorithms/Models</vt:lpstr>
      <vt:lpstr>Features Implemented</vt:lpstr>
      <vt:lpstr>Results and Demonstration</vt:lpstr>
      <vt:lpstr>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Anushka Thiyagarajan</dc:creator>
  <cp:lastModifiedBy>Anushka Thiyagarajan</cp:lastModifiedBy>
  <cp:revision>2</cp:revision>
  <dcterms:created xsi:type="dcterms:W3CDTF">2026-06-22T02:55:11Z</dcterms:created>
  <dcterms:modified xsi:type="dcterms:W3CDTF">2026-06-22T05:04:55Z</dcterms:modified>
</cp:coreProperties>
</file>